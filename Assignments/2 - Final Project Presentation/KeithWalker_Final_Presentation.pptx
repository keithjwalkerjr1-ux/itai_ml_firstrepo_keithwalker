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836"/>
  </p:normalViewPr>
  <p:slideViewPr>
    <p:cSldViewPr snapToGrid="0">
      <p:cViewPr varScale="1">
        <p:scale>
          <a:sx n="112" d="100"/>
          <a:sy n="112" d="100"/>
        </p:scale>
        <p:origin x="1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8C865-6252-B945-A7CE-490E1354898F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372F6-FFE3-2B4A-AA00-E754973D2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0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everyone, my name is Keith, and my project is an AI DJ that recommends songs based on a user’s vibe.</a:t>
            </a:r>
            <a:br>
              <a:rPr lang="en-US" dirty="0"/>
            </a:br>
            <a:r>
              <a:rPr lang="en-US" dirty="0"/>
              <a:t>The goal was to use machine learning to simulate how platforms like Spotify recommend music.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372F6-FFE3-2B4A-AA00-E754973D28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33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chose this problem because music recommendation is something we all experience every day.</a:t>
            </a:r>
            <a:br>
              <a:rPr lang="en-US" dirty="0"/>
            </a:br>
            <a:r>
              <a:rPr lang="en-US" dirty="0"/>
              <a:t>Platforms like Spotify and Apple Music rely heavily on AI to keep users engaged.</a:t>
            </a:r>
            <a:br>
              <a:rPr lang="en-US" dirty="0"/>
            </a:br>
            <a:r>
              <a:rPr lang="en-US" dirty="0"/>
              <a:t>Instead of manually searching for songs, users expect the system to understand their taste and mood automatically.</a:t>
            </a:r>
            <a:br>
              <a:rPr lang="en-US" dirty="0"/>
            </a:br>
            <a:r>
              <a:rPr lang="en-US" dirty="0"/>
              <a:t>I wanted to explore how a simple machine learning model could recreate that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372F6-FFE3-2B4A-AA00-E754973D288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24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goal of this project is to predict whether a user would like a song based on its audio features.</a:t>
            </a:r>
            <a:br>
              <a:rPr lang="en-US" dirty="0"/>
            </a:br>
            <a:r>
              <a:rPr lang="en-US" dirty="0"/>
              <a:t>The input to the model includes features like energy, danceability, and tempo.</a:t>
            </a:r>
            <a:br>
              <a:rPr lang="en-US" dirty="0"/>
            </a:br>
            <a:r>
              <a:rPr lang="en-US" dirty="0"/>
              <a:t>The output is a binary decision: liked or not liked.</a:t>
            </a:r>
            <a:br>
              <a:rPr lang="en-US" dirty="0"/>
            </a:br>
            <a:r>
              <a:rPr lang="en-US" dirty="0"/>
              <a:t>This makes the problem a classification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372F6-FFE3-2B4A-AA00-E754973D288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19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Music platforms use machine learning to recommend songs based on both user behavior and song characteristics.</a:t>
            </a:r>
            <a:br>
              <a:rPr lang="en-US" dirty="0"/>
            </a:br>
            <a:r>
              <a:rPr lang="en-US" dirty="0"/>
              <a:t>Two common approaches are content-based filtering, which focuses on song features, and collaborative filtering, which uses behavior from similar users.</a:t>
            </a:r>
            <a:br>
              <a:rPr lang="en-US" dirty="0"/>
            </a:br>
            <a:r>
              <a:rPr lang="en-US" dirty="0"/>
              <a:t>One major challenge is that music taste is very personal and complex, which makes it difficult to model accurately.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372F6-FFE3-2B4A-AA00-E754973D288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1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project, I used a dataset with about 50,000 songs and their audio features.</a:t>
            </a:r>
            <a:br>
              <a:rPr lang="en-US" dirty="0"/>
            </a:br>
            <a:r>
              <a:rPr lang="en-US" dirty="0"/>
              <a:t>Since the dataset did not include actual user preferences, I created a ‘liked’ label based on high-energy and high-danceability songs to simulate user taste.</a:t>
            </a:r>
            <a:br>
              <a:rPr lang="en-US" dirty="0"/>
            </a:br>
            <a:r>
              <a:rPr lang="en-US" dirty="0"/>
              <a:t>I tested four models: Logistic Regression, Decision Tree, Random Forest, and KNN.</a:t>
            </a:r>
            <a:br>
              <a:rPr lang="en-US" dirty="0"/>
            </a:br>
            <a:r>
              <a:rPr lang="en-US" dirty="0"/>
              <a:t>These were chosen to compare different types of machine learning approaches.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372F6-FFE3-2B4A-AA00-E754973D288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17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the results of the models.</a:t>
            </a:r>
            <a:br>
              <a:rPr lang="en-US" dirty="0"/>
            </a:br>
            <a:r>
              <a:rPr lang="en-US" dirty="0"/>
              <a:t>Both Random Forest and Decision Tree achieved very similar performance.</a:t>
            </a:r>
            <a:br>
              <a:rPr lang="en-US" dirty="0"/>
            </a:br>
            <a:r>
              <a:rPr lang="en-US" dirty="0"/>
              <a:t>I selected Random Forest as the final model because it is more robust and less likely to overfit compared to a single decision tree.</a:t>
            </a:r>
            <a:br>
              <a:rPr lang="en-US" dirty="0"/>
            </a:br>
            <a:r>
              <a:rPr lang="en-US" dirty="0"/>
              <a:t>This makes it more reliable for real-world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372F6-FFE3-2B4A-AA00-E754973D288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64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AI DJ comes to life.</a:t>
            </a:r>
            <a:br>
              <a:rPr lang="en-US" dirty="0"/>
            </a:br>
            <a:r>
              <a:rPr lang="en-US" dirty="0"/>
              <a:t>First, the model predicts which songs the user would like based on their features.</a:t>
            </a:r>
            <a:br>
              <a:rPr lang="en-US" dirty="0"/>
            </a:br>
            <a:r>
              <a:rPr lang="en-US" dirty="0"/>
              <a:t>Then, I filter those songs and sort them by vibe, using energy, danceability, and valence.</a:t>
            </a:r>
            <a:br>
              <a:rPr lang="en-US" dirty="0"/>
            </a:br>
            <a:r>
              <a:rPr lang="en-US" dirty="0"/>
              <a:t>The result is a playlist of recommended songs that match the user’s preferred vibe.</a:t>
            </a:r>
            <a:br>
              <a:rPr lang="en-US" dirty="0"/>
            </a:br>
            <a:r>
              <a:rPr lang="en-US" dirty="0"/>
              <a:t>This simulates how a real music platform would generate personalized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372F6-FFE3-2B4A-AA00-E754973D288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53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thing that worked well is that Random Forest was able to capture complex relationships between the song features.</a:t>
            </a:r>
            <a:br>
              <a:rPr lang="en-US" dirty="0"/>
            </a:br>
            <a:r>
              <a:rPr lang="en-US" dirty="0"/>
              <a:t>However, a key limitation is that I had to simulate user preferences instead of using real user data.</a:t>
            </a:r>
            <a:br>
              <a:rPr lang="en-US" dirty="0"/>
            </a:br>
            <a:r>
              <a:rPr lang="en-US" dirty="0"/>
              <a:t>Because of that, the recommendations may not fully reflect real-world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372F6-FFE3-2B4A-AA00-E754973D288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29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 continued this project, I would use real user listening data to improve accuracy.</a:t>
            </a:r>
            <a:br>
              <a:rPr lang="en-US" dirty="0"/>
            </a:br>
            <a:r>
              <a:rPr lang="en-US" dirty="0"/>
              <a:t>I would also explore more advanced models like deep learning and build a system that generates full playlists instead of individual song predictions.</a:t>
            </a:r>
            <a:br>
              <a:rPr lang="en-US" dirty="0"/>
            </a:br>
            <a:r>
              <a:rPr lang="en-US" dirty="0"/>
              <a:t>This would make the AI DJ more realistic and personalized.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372F6-FFE3-2B4A-AA00-E754973D28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42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this project showed that machine learning can be used to recommend songs based on audio features.</a:t>
            </a:r>
            <a:br>
              <a:rPr lang="en-US" dirty="0"/>
            </a:br>
            <a:r>
              <a:rPr lang="en-US" dirty="0"/>
              <a:t>Random Forest performed the best, and the AI DJ concept successfully generated a playlist based on vibe.</a:t>
            </a:r>
            <a:br>
              <a:rPr lang="en-US" dirty="0"/>
            </a:br>
            <a:r>
              <a:rPr lang="en-US" dirty="0"/>
              <a:t>This demonstrates how even simple models can simulate real-world recommendation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372F6-FFE3-2B4A-AA00-E754973D288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749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3182B-17AB-D474-C4FE-66E1938CF6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AI DJ: </a:t>
            </a:r>
            <a:br>
              <a:rPr lang="en-US" sz="4800" dirty="0"/>
            </a:br>
            <a:r>
              <a:rPr lang="en-US" sz="4800" dirty="0"/>
              <a:t>Music Recommendation System Based on User Vibe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B77C9-833A-C9C9-6D16-B8A1BB1A0B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1200" dirty="0"/>
              <a:t>Keith Walker </a:t>
            </a:r>
            <a:br>
              <a:rPr lang="en-US" sz="1200" dirty="0"/>
            </a:br>
            <a:r>
              <a:rPr lang="en-US" sz="1200" dirty="0"/>
              <a:t>ITAI 1371 – Final Project </a:t>
            </a:r>
            <a:br>
              <a:rPr lang="en-US" sz="1200" dirty="0"/>
            </a:br>
            <a:r>
              <a:rPr lang="en-US" sz="1200" dirty="0"/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81473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01CAA-2097-3B03-645B-50B0F3B90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272363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5" name="Content Placeholder 4" descr="Music Streaming Mobile App UI Design :: Behance">
            <a:extLst>
              <a:ext uri="{FF2B5EF4-FFF2-40B4-BE49-F238E27FC236}">
                <a16:creationId xmlns:a16="http://schemas.microsoft.com/office/drawing/2014/main" id="{FE376173-5541-82FB-D4C1-E3E7885B6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95863" y="1040805"/>
            <a:ext cx="6510337" cy="488275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B3546-BF1E-042A-4B9D-62F69151D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829072"/>
            <a:ext cx="4114800" cy="309448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Music apps rely on recommendations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Users want songs that match their mood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AI helps personalize music experiences</a:t>
            </a:r>
          </a:p>
        </p:txBody>
      </p:sp>
    </p:spTree>
    <p:extLst>
      <p:ext uri="{BB962C8B-B14F-4D97-AF65-F5344CB8AC3E}">
        <p14:creationId xmlns:p14="http://schemas.microsoft.com/office/powerpoint/2010/main" val="435043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D4FC3-204A-1823-2100-1768BD569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1" y="688836"/>
            <a:ext cx="8610599" cy="12954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FDB90-3F6E-E549-08C8-874087C5D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BE26506-BE34-84DC-9B23-996D7EF1D6E3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>
            <a:normAutofit/>
          </a:bodyPr>
          <a:lstStyle/>
          <a:p>
            <a:r>
              <a:rPr lang="en-US" sz="9600" dirty="0"/>
              <a:t>🎧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AAEB20-511F-7E99-FAAE-60AEB2D517B4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r>
              <a:rPr lang="en-US" dirty="0"/>
              <a:t>Predict if a user will like a song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3D38CD-5A9A-FAC3-1449-1E46AFC8C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DA33918-B1F7-5BD7-55E2-507E71F3F6A7}"/>
              </a:ext>
            </a:extLst>
          </p:cNvPr>
          <p:cNvSpPr>
            <a:spLocks noGrp="1"/>
          </p:cNvSpPr>
          <p:nvPr>
            <p:ph type="pic" idx="21"/>
          </p:nvPr>
        </p:nvSpPr>
        <p:spPr/>
        <p:txBody>
          <a:bodyPr>
            <a:normAutofit/>
          </a:bodyPr>
          <a:lstStyle/>
          <a:p>
            <a:r>
              <a:rPr lang="en-US" sz="9600" dirty="0"/>
              <a:t>🤖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E40F68-9234-9579-0888-5F38822B7B34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rPr lang="en-US" dirty="0"/>
              <a:t>Song features (energy, danceability, etc.)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37EC05F-DFA1-D0E2-57E0-68A18909A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79AF9EE-2043-D871-6D8B-A4267F0B89E0}"/>
              </a:ext>
            </a:extLst>
          </p:cNvPr>
          <p:cNvSpPr>
            <a:spLocks noGrp="1"/>
          </p:cNvSpPr>
          <p:nvPr>
            <p:ph type="pic" idx="22"/>
          </p:nvPr>
        </p:nvSpPr>
        <p:spPr/>
        <p:txBody>
          <a:bodyPr>
            <a:normAutofit/>
          </a:bodyPr>
          <a:lstStyle/>
          <a:p>
            <a:r>
              <a:rPr lang="en-US" sz="9600" dirty="0"/>
              <a:t>👍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12BA859-0954-DCBD-740D-8C5D01E1AC71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r>
              <a:rPr lang="en-US" dirty="0"/>
              <a:t>Like (1) or Not Like (0)</a:t>
            </a:r>
          </a:p>
        </p:txBody>
      </p:sp>
    </p:spTree>
    <p:extLst>
      <p:ext uri="{BB962C8B-B14F-4D97-AF65-F5344CB8AC3E}">
        <p14:creationId xmlns:p14="http://schemas.microsoft.com/office/powerpoint/2010/main" val="1701937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FC936-FFC4-12C8-2CBB-CBFFC10A9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524000"/>
            <a:ext cx="5749291" cy="1600200"/>
          </a:xfrm>
        </p:spPr>
        <p:txBody>
          <a:bodyPr/>
          <a:lstStyle/>
          <a:p>
            <a:r>
              <a:rPr lang="en-US" dirty="0"/>
              <a:t>How Music Recommendations 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E8855-6B16-3ED7-78B1-6E0E484DD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799" y="3238499"/>
            <a:ext cx="4114800" cy="3094485"/>
          </a:xfrm>
        </p:spPr>
        <p:txBody>
          <a:bodyPr>
            <a:noAutofit/>
          </a:bodyPr>
          <a:lstStyle/>
          <a:p>
            <a:r>
              <a:rPr lang="en-US" sz="1800" dirty="0"/>
              <a:t>• Music Platforms uses machine learning  </a:t>
            </a:r>
          </a:p>
          <a:p>
            <a:endParaRPr lang="en-US" sz="1800" dirty="0"/>
          </a:p>
          <a:p>
            <a:r>
              <a:rPr lang="en-US" sz="1800" dirty="0"/>
              <a:t>• Recommendation methods:</a:t>
            </a:r>
          </a:p>
          <a:p>
            <a:r>
              <a:rPr lang="en-US" sz="1800" dirty="0"/>
              <a:t>   - Content-based filtering  </a:t>
            </a:r>
          </a:p>
          <a:p>
            <a:r>
              <a:rPr lang="en-US" sz="1800" dirty="0"/>
              <a:t>   - Collaborative filtering  </a:t>
            </a:r>
          </a:p>
          <a:p>
            <a:endParaRPr lang="en-US" sz="1800" dirty="0"/>
          </a:p>
          <a:p>
            <a:r>
              <a:rPr lang="en-US" sz="1800" dirty="0"/>
              <a:t>• Challenge:</a:t>
            </a:r>
          </a:p>
          <a:p>
            <a:r>
              <a:rPr lang="en-US" sz="1800" dirty="0"/>
              <a:t>   - Modeling user taste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0564F5E-A91F-E060-8EF7-CF788FF40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61677" y="4252563"/>
            <a:ext cx="6510337" cy="1966121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5DDD2E-4FE5-D881-9BBF-AE3F3786A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528" y="383148"/>
            <a:ext cx="2281703" cy="22817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EF35E8-AE89-9893-5AB8-CE694D49E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7669" y="1339702"/>
            <a:ext cx="2609998" cy="260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91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9FF71-D707-46F6-0C4F-99C8D2A91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FA5AD-8315-4C04-8FCA-D7FDD29F9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1690" y="2419250"/>
            <a:ext cx="3040380" cy="617320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67E23-65C2-CBB2-21FC-FFA65B372F5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21689" y="3121735"/>
            <a:ext cx="2331721" cy="1495985"/>
          </a:xfrm>
        </p:spPr>
        <p:txBody>
          <a:bodyPr>
            <a:normAutofit/>
          </a:bodyPr>
          <a:lstStyle/>
          <a:p>
            <a:r>
              <a:rPr lang="en-US" sz="1800" dirty="0"/>
              <a:t>Music </a:t>
            </a:r>
            <a:r>
              <a:rPr lang="en-US" sz="1800" dirty="0" err="1"/>
              <a:t>info.csv</a:t>
            </a:r>
            <a:endParaRPr lang="en-US" sz="1800" dirty="0"/>
          </a:p>
          <a:p>
            <a:r>
              <a:rPr lang="en-US" sz="1800" dirty="0"/>
              <a:t>~50,000 songs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83F3BD-B50C-DDFD-B761-8299380C41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70270" y="2430680"/>
            <a:ext cx="3040380" cy="626534"/>
          </a:xfrm>
        </p:spPr>
        <p:txBody>
          <a:bodyPr/>
          <a:lstStyle/>
          <a:p>
            <a:r>
              <a:rPr lang="en-US" dirty="0"/>
              <a:t>Models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20FF7D-9E97-9880-8EDD-3CCF6185DB12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970271" y="3142379"/>
            <a:ext cx="3040380" cy="208984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Logistic Regression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Decision Tree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Random Forest ⭐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KNN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2EFB99E-4470-E116-C2A1-34718EFF51BE}"/>
              </a:ext>
            </a:extLst>
          </p:cNvPr>
          <p:cNvSpPr txBox="1">
            <a:spLocks/>
          </p:cNvSpPr>
          <p:nvPr/>
        </p:nvSpPr>
        <p:spPr>
          <a:xfrm>
            <a:off x="4159249" y="3098875"/>
            <a:ext cx="3040381" cy="20903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DEE889B-6C62-629E-F51F-79E82A9919FD}"/>
              </a:ext>
            </a:extLst>
          </p:cNvPr>
          <p:cNvSpPr txBox="1">
            <a:spLocks/>
          </p:cNvSpPr>
          <p:nvPr/>
        </p:nvSpPr>
        <p:spPr>
          <a:xfrm>
            <a:off x="3507740" y="2419250"/>
            <a:ext cx="2209800" cy="6173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Features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7A57E09-7826-2AD7-1B99-7717D2E0B792}"/>
              </a:ext>
            </a:extLst>
          </p:cNvPr>
          <p:cNvSpPr txBox="1">
            <a:spLocks/>
          </p:cNvSpPr>
          <p:nvPr/>
        </p:nvSpPr>
        <p:spPr>
          <a:xfrm>
            <a:off x="3507739" y="3110305"/>
            <a:ext cx="2209801" cy="20903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energy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danceability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valence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tempo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7EEB573-3AF4-5826-4AAB-7ADD435E6DA1}"/>
              </a:ext>
            </a:extLst>
          </p:cNvPr>
          <p:cNvSpPr txBox="1">
            <a:spLocks/>
          </p:cNvSpPr>
          <p:nvPr/>
        </p:nvSpPr>
        <p:spPr>
          <a:xfrm>
            <a:off x="9263380" y="2419250"/>
            <a:ext cx="2242818" cy="6265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Target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1ECE1276-4B2F-5A56-7DB6-393FC287CF83}"/>
              </a:ext>
            </a:extLst>
          </p:cNvPr>
          <p:cNvSpPr txBox="1">
            <a:spLocks/>
          </p:cNvSpPr>
          <p:nvPr/>
        </p:nvSpPr>
        <p:spPr>
          <a:xfrm>
            <a:off x="9263381" y="3130949"/>
            <a:ext cx="2242818" cy="20898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1 = Liked </a:t>
            </a:r>
          </a:p>
          <a:p>
            <a:r>
              <a:rPr lang="en-US" sz="1800" dirty="0"/>
              <a:t>0 = Not Liked</a:t>
            </a:r>
          </a:p>
        </p:txBody>
      </p:sp>
    </p:spTree>
    <p:extLst>
      <p:ext uri="{BB962C8B-B14F-4D97-AF65-F5344CB8AC3E}">
        <p14:creationId xmlns:p14="http://schemas.microsoft.com/office/powerpoint/2010/main" val="2612554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DA15B1D-0133-4CB3-B7CC-61FA72874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F2F61C-287D-47BC-878F-C876F74FF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63888E-8863-E602-FB58-F515C5140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4753466" cy="1293028"/>
          </a:xfrm>
        </p:spPr>
        <p:txBody>
          <a:bodyPr>
            <a:normAutofit/>
          </a:bodyPr>
          <a:lstStyle/>
          <a:p>
            <a:r>
              <a:rPr lang="en-US"/>
              <a:t>Results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B18601-F187-F3D4-F769-7854FE760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94560"/>
            <a:ext cx="4753466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Random Forest and Decision Tree performed best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5BA9375-863F-4B24-9083-14FE819F8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1066164"/>
            <a:ext cx="5305958" cy="514837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EB1007-CA2F-FB0C-43D4-BB4BA826F3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" b="2860"/>
          <a:stretch>
            <a:fillRect/>
          </a:stretch>
        </p:blipFill>
        <p:spPr>
          <a:xfrm>
            <a:off x="6407004" y="1336566"/>
            <a:ext cx="4683948" cy="460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67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030FD700-069E-45B7-99EE-9FD40B196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CA28B7-B9C1-25D0-59FE-2DB9DA542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AI DJ Output</a:t>
            </a:r>
            <a:endParaRPr lang="en-US" dirty="0"/>
          </a:p>
        </p:txBody>
      </p:sp>
      <p:graphicFrame>
        <p:nvGraphicFramePr>
          <p:cNvPr id="31" name="Content Placeholder 27">
            <a:extLst>
              <a:ext uri="{FF2B5EF4-FFF2-40B4-BE49-F238E27FC236}">
                <a16:creationId xmlns:a16="http://schemas.microsoft.com/office/drawing/2014/main" id="{A6399D89-2D52-2EAB-BAD4-E15DD8C2922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4116296"/>
              </p:ext>
            </p:extLst>
          </p:nvPr>
        </p:nvGraphicFramePr>
        <p:xfrm>
          <a:off x="1454045" y="2205823"/>
          <a:ext cx="9623687" cy="3887814"/>
        </p:xfrm>
        <a:graphic>
          <a:graphicData uri="http://schemas.openxmlformats.org/drawingml/2006/table">
            <a:tbl>
              <a:tblPr firstRow="1" bandRow="1"/>
              <a:tblGrid>
                <a:gridCol w="587551">
                  <a:extLst>
                    <a:ext uri="{9D8B030D-6E8A-4147-A177-3AD203B41FA5}">
                      <a16:colId xmlns:a16="http://schemas.microsoft.com/office/drawing/2014/main" val="3172919052"/>
                    </a:ext>
                  </a:extLst>
                </a:gridCol>
                <a:gridCol w="2315596">
                  <a:extLst>
                    <a:ext uri="{9D8B030D-6E8A-4147-A177-3AD203B41FA5}">
                      <a16:colId xmlns:a16="http://schemas.microsoft.com/office/drawing/2014/main" val="4118007596"/>
                    </a:ext>
                  </a:extLst>
                </a:gridCol>
                <a:gridCol w="2061034">
                  <a:extLst>
                    <a:ext uri="{9D8B030D-6E8A-4147-A177-3AD203B41FA5}">
                      <a16:colId xmlns:a16="http://schemas.microsoft.com/office/drawing/2014/main" val="2583039131"/>
                    </a:ext>
                  </a:extLst>
                </a:gridCol>
                <a:gridCol w="650157">
                  <a:extLst>
                    <a:ext uri="{9D8B030D-6E8A-4147-A177-3AD203B41FA5}">
                      <a16:colId xmlns:a16="http://schemas.microsoft.com/office/drawing/2014/main" val="4069002316"/>
                    </a:ext>
                  </a:extLst>
                </a:gridCol>
                <a:gridCol w="835686">
                  <a:extLst>
                    <a:ext uri="{9D8B030D-6E8A-4147-A177-3AD203B41FA5}">
                      <a16:colId xmlns:a16="http://schemas.microsoft.com/office/drawing/2014/main" val="3328169624"/>
                    </a:ext>
                  </a:extLst>
                </a:gridCol>
                <a:gridCol w="1323236">
                  <a:extLst>
                    <a:ext uri="{9D8B030D-6E8A-4147-A177-3AD203B41FA5}">
                      <a16:colId xmlns:a16="http://schemas.microsoft.com/office/drawing/2014/main" val="3878341343"/>
                    </a:ext>
                  </a:extLst>
                </a:gridCol>
                <a:gridCol w="971595">
                  <a:extLst>
                    <a:ext uri="{9D8B030D-6E8A-4147-A177-3AD203B41FA5}">
                      <a16:colId xmlns:a16="http://schemas.microsoft.com/office/drawing/2014/main" val="1530211567"/>
                    </a:ext>
                  </a:extLst>
                </a:gridCol>
                <a:gridCol w="878832">
                  <a:extLst>
                    <a:ext uri="{9D8B030D-6E8A-4147-A177-3AD203B41FA5}">
                      <a16:colId xmlns:a16="http://schemas.microsoft.com/office/drawing/2014/main" val="1035486185"/>
                    </a:ext>
                  </a:extLst>
                </a:gridCol>
              </a:tblGrid>
              <a:tr h="185134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sz="800" b="1">
                        <a:effectLst/>
                      </a:endParaRP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b="1">
                          <a:effectLst/>
                        </a:rPr>
                        <a:t>Name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b="1">
                          <a:effectLst/>
                        </a:rPr>
                        <a:t>Artist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b="1">
                          <a:effectLst/>
                        </a:rPr>
                        <a:t>Year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b="1">
                          <a:effectLst/>
                        </a:rPr>
                        <a:t>Energy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b="1">
                          <a:effectLst/>
                        </a:rPr>
                        <a:t>Danceability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b="1" dirty="0">
                          <a:effectLst/>
                        </a:rPr>
                        <a:t>Valence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Tempo</a:t>
                      </a:r>
                    </a:p>
                  </a:txBody>
                  <a:tcPr marL="20898" marR="20898" marT="10449" marB="10449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5318746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Come as You Are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Nirvana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1991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0.826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0.508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0.543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120.012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978165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5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Somebody Told Me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The Killers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2005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0.979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0.508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0.704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138.030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208433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Viva la Vida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Coldplay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2013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0.806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0.588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0.520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137.973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24342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12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Feel Good Inc.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Gorillaz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2010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0.720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0.809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0.832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138.556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806052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15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Lithium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Nirvana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1991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0.656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0.678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0.485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123.207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59705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16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Song 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Blur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2012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0.723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0.676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0.779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129.700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910297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21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Supermassive Black Hole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Muse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2010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0.891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0.667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0.837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120.010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368819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31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Dani California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Red Hot Chili Peppers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2006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0.913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0.556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0.730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96.184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795217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34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Clint Eastwood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Gorillaz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2012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0.712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0.659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0.556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167.948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889253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39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Losing My Religion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effectLst/>
                        </a:rPr>
                        <a:t>R.E.M.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2014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0.736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0.668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0.629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126.978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007019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41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Time Is Running Out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Muse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2003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0.854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0.575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0.443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118.225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374708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42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I Kissed a Girl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Katy Perry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2008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0.760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0.699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0.696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129.996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59371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47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Heart-Shaped Box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Nirvana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2007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0.842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0.609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0.459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115.158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488585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59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Float On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Modest Mouse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2004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0.893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0.646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0.559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100.951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199414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61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Can't Stop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Red Hot Chili Peppers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2002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0.938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0.618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0.875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91.455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658405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62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She Will Be Loved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Maroon 5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2011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0.704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0.697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0.520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102.024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536308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65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Naïve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The Kooks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2012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0.791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0.559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0.716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103.380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545683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77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This Love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Maroon 5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2007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0.862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0.714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0.764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95.038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694228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83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Sultans of Swing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Dire Straits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2013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0.815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0.736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0.921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148.152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971002"/>
                  </a:ext>
                </a:extLst>
              </a:tr>
              <a:tr h="18513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800" b="1">
                          <a:effectLst/>
                        </a:rPr>
                        <a:t>86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Kryptonite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3 Doors Down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2012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0.805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0.546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>
                          <a:effectLst/>
                        </a:rPr>
                        <a:t>0.529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800" dirty="0">
                          <a:effectLst/>
                        </a:rPr>
                        <a:t>99.010</a:t>
                      </a:r>
                    </a:p>
                  </a:txBody>
                  <a:tcPr marL="20898" marR="20898" marT="10449" marB="104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748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846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1E578-222F-A31A-DA0D-BDCD695B5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53CCB-0E12-1A82-F3B7-90509109F4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worked?</a:t>
            </a:r>
          </a:p>
          <a:p>
            <a:r>
              <a:rPr lang="en-US" dirty="0"/>
              <a:t>Random Forest performed best</a:t>
            </a:r>
          </a:p>
          <a:p>
            <a:r>
              <a:rPr lang="en-US" dirty="0"/>
              <a:t>Features captured song vibe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16D3F-04F1-BC28-4225-DF0BCD6741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Challenges</a:t>
            </a:r>
          </a:p>
          <a:p>
            <a:r>
              <a:rPr lang="en-US" dirty="0"/>
              <a:t>No real user data </a:t>
            </a:r>
          </a:p>
          <a:p>
            <a:r>
              <a:rPr lang="en-US" dirty="0"/>
              <a:t>Simulated “liked” labels</a:t>
            </a:r>
          </a:p>
        </p:txBody>
      </p:sp>
    </p:spTree>
    <p:extLst>
      <p:ext uri="{BB962C8B-B14F-4D97-AF65-F5344CB8AC3E}">
        <p14:creationId xmlns:p14="http://schemas.microsoft.com/office/powerpoint/2010/main" val="1380363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AE994-2A19-BE13-7FE5-D8196FB26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57447-91A2-A820-BC76-34C614AF70E6}"/>
              </a:ext>
            </a:extLst>
          </p:cNvPr>
          <p:cNvSpPr txBox="1"/>
          <p:nvPr/>
        </p:nvSpPr>
        <p:spPr>
          <a:xfrm>
            <a:off x="218598" y="2690335"/>
            <a:ext cx="188880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dirty="0"/>
              <a:t>📊 </a:t>
            </a:r>
            <a:br>
              <a:rPr lang="en-US" sz="9600" dirty="0"/>
            </a:br>
            <a:r>
              <a:rPr lang="en-US" dirty="0"/>
              <a:t>Real user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127678-E7BE-C90E-4F5A-029EEE3E3453}"/>
              </a:ext>
            </a:extLst>
          </p:cNvPr>
          <p:cNvSpPr txBox="1"/>
          <p:nvPr/>
        </p:nvSpPr>
        <p:spPr>
          <a:xfrm>
            <a:off x="2718911" y="2676942"/>
            <a:ext cx="265461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dirty="0"/>
              <a:t>🤖 </a:t>
            </a:r>
            <a:br>
              <a:rPr lang="en-US" sz="9600" dirty="0"/>
            </a:br>
            <a:r>
              <a:rPr lang="en-US" dirty="0"/>
              <a:t>Deep learning models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1D3952-6F31-A884-3E8C-B73F00B7A83A}"/>
              </a:ext>
            </a:extLst>
          </p:cNvPr>
          <p:cNvSpPr txBox="1"/>
          <p:nvPr/>
        </p:nvSpPr>
        <p:spPr>
          <a:xfrm>
            <a:off x="5725001" y="2676942"/>
            <a:ext cx="295179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dirty="0"/>
              <a:t>🎧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Playlist-based recommendations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AFACA0-6E7F-3531-3B9A-D55F5C0C135A}"/>
              </a:ext>
            </a:extLst>
          </p:cNvPr>
          <p:cNvSpPr txBox="1"/>
          <p:nvPr/>
        </p:nvSpPr>
        <p:spPr>
          <a:xfrm>
            <a:off x="9024461" y="2690336"/>
            <a:ext cx="295179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dirty="0"/>
              <a:t>👥</a:t>
            </a:r>
            <a:br>
              <a:rPr lang="en-US" sz="9600" dirty="0"/>
            </a:br>
            <a:r>
              <a:rPr lang="en-US" dirty="0"/>
              <a:t>Better personalization</a:t>
            </a:r>
          </a:p>
        </p:txBody>
      </p:sp>
    </p:spTree>
    <p:extLst>
      <p:ext uri="{BB962C8B-B14F-4D97-AF65-F5344CB8AC3E}">
        <p14:creationId xmlns:p14="http://schemas.microsoft.com/office/powerpoint/2010/main" val="187017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29A806-972D-D62D-3C0A-F98FF5308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467" y="244591"/>
            <a:ext cx="10146186" cy="2511835"/>
          </a:xfrm>
        </p:spPr>
        <p:txBody>
          <a:bodyPr>
            <a:normAutofit/>
          </a:bodyPr>
          <a:lstStyle/>
          <a:p>
            <a:r>
              <a:rPr lang="en-US" sz="4000" dirty="0"/>
              <a:t>Conclusion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FDD495-99D8-8D34-45DB-3A89113C2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3673" y="3282555"/>
            <a:ext cx="10144654" cy="1300875"/>
          </a:xfrm>
        </p:spPr>
        <p:txBody>
          <a:bodyPr>
            <a:noAutofit/>
          </a:bodyPr>
          <a:lstStyle/>
          <a:p>
            <a:r>
              <a:rPr lang="en-US" sz="2800" dirty="0"/>
              <a:t>ML can recommend music </a:t>
            </a:r>
            <a:br>
              <a:rPr lang="en-US" sz="2800" dirty="0"/>
            </a:br>
            <a:r>
              <a:rPr lang="en-US" sz="2800" dirty="0"/>
              <a:t>Random Forest worked best </a:t>
            </a:r>
            <a:br>
              <a:rPr lang="en-US" sz="2800" dirty="0"/>
            </a:br>
            <a:r>
              <a:rPr lang="en-US" sz="2800" dirty="0"/>
              <a:t>AI DJ concept works</a:t>
            </a:r>
          </a:p>
        </p:txBody>
      </p:sp>
    </p:spTree>
    <p:extLst>
      <p:ext uri="{BB962C8B-B14F-4D97-AF65-F5344CB8AC3E}">
        <p14:creationId xmlns:p14="http://schemas.microsoft.com/office/powerpoint/2010/main" val="100736663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1617</TotalTime>
  <Words>1036</Words>
  <Application>Microsoft Macintosh PowerPoint</Application>
  <PresentationFormat>Widescreen</PresentationFormat>
  <Paragraphs>246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Century Gothic</vt:lpstr>
      <vt:lpstr>Vapor Trail</vt:lpstr>
      <vt:lpstr>AI DJ:  Music Recommendation System Based on User Vibe</vt:lpstr>
      <vt:lpstr>Motivation</vt:lpstr>
      <vt:lpstr>Introduction</vt:lpstr>
      <vt:lpstr>How Music Recommendations Work</vt:lpstr>
      <vt:lpstr>Methods</vt:lpstr>
      <vt:lpstr>Results</vt:lpstr>
      <vt:lpstr>AI DJ Output</vt:lpstr>
      <vt:lpstr>Discussion</vt:lpstr>
      <vt:lpstr>Future Directions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 Walker</dc:creator>
  <cp:lastModifiedBy>Keith Walker</cp:lastModifiedBy>
  <cp:revision>7</cp:revision>
  <dcterms:created xsi:type="dcterms:W3CDTF">2026-05-04T20:46:01Z</dcterms:created>
  <dcterms:modified xsi:type="dcterms:W3CDTF">2026-05-05T23:43:59Z</dcterms:modified>
</cp:coreProperties>
</file>